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5" r:id="rId9"/>
    <p:sldId id="266" r:id="rId10"/>
    <p:sldId id="267" r:id="rId11"/>
    <p:sldId id="269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6" d="100"/>
          <a:sy n="106" d="100"/>
        </p:scale>
        <p:origin x="778" y="5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082764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2011680"/>
            <a:ext cx="5943600" cy="5943600"/>
          </a:xfrm>
          <a:prstGeom prst="ellipse">
            <a:avLst/>
          </a:prstGeom>
          <a:solidFill>
            <a:srgbClr val="17365A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-1371600"/>
            <a:ext cx="4572000" cy="4572000"/>
          </a:xfrm>
          <a:prstGeom prst="ellipse">
            <a:avLst/>
          </a:prstGeom>
          <a:solidFill>
            <a:srgbClr val="0F2541"/>
          </a:solidFill>
          <a:ln w="10160">
            <a:solidFill>
              <a:srgbClr val="10B98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960120"/>
            <a:ext cx="83210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TechFootPrint</a:t>
            </a:r>
            <a:endParaRPr lang="en-US" sz="7200" dirty="0"/>
          </a:p>
        </p:txBody>
      </p:sp>
      <p:sp>
        <p:nvSpPr>
          <p:cNvPr id="9" name="Text 7"/>
          <p:cNvSpPr/>
          <p:nvPr/>
        </p:nvSpPr>
        <p:spPr>
          <a:xfrm>
            <a:off x="411480" y="2286000"/>
            <a:ext cx="6858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6EE7B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AI-Driven Coding Analytics &amp;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6EE7B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Academic Performance Intelligence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11480" y="3310128"/>
            <a:ext cx="5029200" cy="32004"/>
          </a:xfrm>
          <a:prstGeom prst="rect">
            <a:avLst/>
          </a:prstGeom>
          <a:solidFill>
            <a:srgbClr val="1E3F6B"/>
          </a:solidFill>
          <a:ln w="12700">
            <a:solidFill>
              <a:srgbClr val="1E3F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3438144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Vinay Kamble  ·  Shreeya Dhond  ·  Shrejal Bhosale  ·  Aisshwarya Gurav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11480" y="379476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Computer Science &amp; Engineering (AI &amp; ML)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11480" y="4315968"/>
            <a:ext cx="1920240" cy="658368"/>
          </a:xfrm>
          <a:prstGeom prst="rect">
            <a:avLst/>
          </a:prstGeom>
          <a:solidFill>
            <a:srgbClr val="17365A"/>
          </a:solidFill>
          <a:ln w="6350">
            <a:solidFill>
              <a:srgbClr val="1E3F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4343400"/>
            <a:ext cx="685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069848" y="4370832"/>
            <a:ext cx="1234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Platforms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Integrated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468880" y="4315968"/>
            <a:ext cx="1920240" cy="658368"/>
          </a:xfrm>
          <a:prstGeom prst="rect">
            <a:avLst/>
          </a:prstGeom>
          <a:solidFill>
            <a:srgbClr val="17365A"/>
          </a:solidFill>
          <a:ln w="6350">
            <a:solidFill>
              <a:srgbClr val="1E3F6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468880" y="4343400"/>
            <a:ext cx="685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3127248" y="4370832"/>
            <a:ext cx="1234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User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Roles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26280" y="4315968"/>
            <a:ext cx="1920240" cy="658368"/>
          </a:xfrm>
          <a:prstGeom prst="rect">
            <a:avLst/>
          </a:prstGeom>
          <a:solidFill>
            <a:srgbClr val="17365A"/>
          </a:solidFill>
          <a:ln w="6350">
            <a:solidFill>
              <a:srgbClr val="1E3F6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26280" y="4343400"/>
            <a:ext cx="685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5184648" y="4370832"/>
            <a:ext cx="1234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Transformer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Recommender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583680" y="4315968"/>
            <a:ext cx="1920240" cy="658368"/>
          </a:xfrm>
          <a:prstGeom prst="rect">
            <a:avLst/>
          </a:prstGeom>
          <a:solidFill>
            <a:srgbClr val="17365A"/>
          </a:solidFill>
          <a:ln w="6350">
            <a:solidFill>
              <a:srgbClr val="1E3F6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83680" y="4343400"/>
            <a:ext cx="868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99%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7372800" y="4370832"/>
            <a:ext cx="110368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Cluster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Purity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2541"/>
          </a:solidFill>
          <a:ln w="12700">
            <a:solidFill>
              <a:srgbClr val="0F254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32004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300" dirty="0">
                <a:solidFill>
                  <a:srgbClr val="10B981"/>
                </a:solidFill>
              </a:rPr>
              <a:t>THE PROBLEM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Colleges Face Today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078992"/>
            <a:ext cx="4160520" cy="1828800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  <a:prstDash val="solid"/>
          </a:ln>
          <a:effectLst>
            <a:outerShdw blurRad="228600" dist="508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78992"/>
            <a:ext cx="4160520" cy="640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75488" y="1261872"/>
            <a:ext cx="566928" cy="566928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35024"/>
            <a:ext cx="411480" cy="411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88720" y="1307592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341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Coding Visibility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75488" y="1901952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see only final submissions. The learning journey — time spent, mistakes, attempts — is completely invisible to them.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709160" y="1078992"/>
            <a:ext cx="4160520" cy="1828800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  <a:prstDash val="solid"/>
          </a:ln>
          <a:effectLst>
            <a:outerShdw blurRad="228600" dist="508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709160" y="1078992"/>
            <a:ext cx="4160520" cy="640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910328" y="1261872"/>
            <a:ext cx="566928" cy="566928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1335024"/>
            <a:ext cx="411480" cy="41148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623560" y="1307592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341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Manual Tracking Overhead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4910328" y="1901952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Spreadsheets and spot-checks create inconsistent CIE evaluations, massive administrative overhead, and zero scalability.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274320" y="3072384"/>
            <a:ext cx="4160520" cy="1828800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  <a:prstDash val="solid"/>
          </a:ln>
          <a:effectLst>
            <a:outerShdw blurRad="228600" dist="508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274320" y="3072384"/>
            <a:ext cx="4160520" cy="6400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475488" y="3255264"/>
            <a:ext cx="566928" cy="566928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3328416"/>
            <a:ext cx="411480" cy="41148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188720" y="3300984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341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Personalized Guidance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475488" y="3895344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get generic practice sheets. Without adaptive paths, individual weaknesses go unaddressed until it's too late.</a:t>
            </a:r>
            <a:endParaRPr lang="en-US" sz="1150" dirty="0"/>
          </a:p>
        </p:txBody>
      </p:sp>
      <p:sp>
        <p:nvSpPr>
          <p:cNvPr id="23" name="Shape 18"/>
          <p:cNvSpPr/>
          <p:nvPr/>
        </p:nvSpPr>
        <p:spPr>
          <a:xfrm>
            <a:off x="4709160" y="3072384"/>
            <a:ext cx="4160520" cy="1828800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  <a:prstDash val="solid"/>
          </a:ln>
          <a:effectLst>
            <a:outerShdw blurRad="228600" dist="508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4709160" y="3072384"/>
            <a:ext cx="4160520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4910328" y="3255264"/>
            <a:ext cx="566928" cy="566928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83480" y="3328416"/>
            <a:ext cx="411480" cy="41148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5623560" y="3300984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341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Curriculum–Industry Gap</a:t>
            </a:r>
            <a:endParaRPr lang="en-US" sz="1400" dirty="0"/>
          </a:p>
        </p:txBody>
      </p:sp>
      <p:sp>
        <p:nvSpPr>
          <p:cNvPr id="28" name="Text 22"/>
          <p:cNvSpPr/>
          <p:nvPr/>
        </p:nvSpPr>
        <p:spPr>
          <a:xfrm>
            <a:off x="4910328" y="3895344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curriculum updates mean graduates lack the exact DSA and programming skills that companies like Infosys and TCS demand.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5486400" cy="5486400"/>
          </a:xfrm>
          <a:prstGeom prst="ellipse">
            <a:avLst/>
          </a:prstGeom>
          <a:solidFill>
            <a:srgbClr val="0F2541"/>
          </a:solidFill>
          <a:ln w="12700">
            <a:solidFill>
              <a:srgbClr val="1E3F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1371600"/>
            <a:ext cx="4114800" cy="4114800"/>
          </a:xfrm>
          <a:prstGeom prst="ellipse">
            <a:avLst/>
          </a:prstGeom>
          <a:solidFill>
            <a:srgbClr val="17365A"/>
          </a:solidFill>
          <a:ln w="10160">
            <a:solidFill>
              <a:srgbClr val="1E3F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1887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EE7B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TechFootPrint serves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14400" y="169164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Key</a:t>
            </a:r>
            <a:endParaRPr lang="en-US" sz="5800" dirty="0"/>
          </a:p>
          <a:p>
            <a:pPr marL="0" indent="0" algn="ctr">
              <a:buNone/>
            </a:pPr>
            <a:r>
              <a:rPr lang="en-US" sz="5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Stakeholders</a:t>
            </a:r>
            <a:endParaRPr lang="en-US" sz="5800" dirty="0"/>
          </a:p>
        </p:txBody>
      </p:sp>
      <p:sp>
        <p:nvSpPr>
          <p:cNvPr id="7" name="Shape 5"/>
          <p:cNvSpPr/>
          <p:nvPr/>
        </p:nvSpPr>
        <p:spPr>
          <a:xfrm>
            <a:off x="822960" y="3913632"/>
            <a:ext cx="2377440" cy="658368"/>
          </a:xfrm>
          <a:prstGeom prst="roundRect">
            <a:avLst>
              <a:gd name="adj" fmla="val 8333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3913632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Faculty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474720" y="3913632"/>
            <a:ext cx="2377440" cy="658368"/>
          </a:xfrm>
          <a:prstGeom prst="roundRect">
            <a:avLst>
              <a:gd name="adj" fmla="val 8333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0" y="3913632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College Management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126480" y="3913632"/>
            <a:ext cx="2377440" cy="658368"/>
          </a:xfrm>
          <a:prstGeom prst="roundRect">
            <a:avLst>
              <a:gd name="adj" fmla="val 8333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26480" y="3913632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Students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2541"/>
          </a:solidFill>
          <a:ln w="12700">
            <a:solidFill>
              <a:srgbClr val="0F254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67512" y="-41148"/>
            <a:ext cx="32004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300" dirty="0">
                <a:solidFill>
                  <a:srgbClr val="10B981"/>
                </a:solidFill>
              </a:rPr>
              <a:t>FACULTY BENEFITS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1681089" y="0"/>
            <a:ext cx="7462911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Empowering Faculty with Real Intelligence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5029200" cy="877824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  <a:effectLst>
            <a:outerShdw blurRad="228600" dist="508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51560"/>
            <a:ext cx="64008" cy="87782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1252728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05840" y="1088136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341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Real-Time Cohort Dashboard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1005840" y="1453896"/>
            <a:ext cx="4160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every student's solve count, streak, difficulty level and topic coverage — live. No more waiting for end-semester reports.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274320" y="2039112"/>
            <a:ext cx="5029200" cy="877824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  <a:effectLst>
            <a:outerShdw blurRad="228600" dist="508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74320" y="2039112"/>
            <a:ext cx="64008" cy="87782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" y="2240280"/>
            <a:ext cx="384048" cy="38404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005840" y="2075688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341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One-Click CIE Report Generation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1005840" y="2441448"/>
            <a:ext cx="4160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 Continuous Internal Evaluation reports per student from actual coding activity data — saving hours of manual work.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274320" y="3026664"/>
            <a:ext cx="5029200" cy="877824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  <a:effectLst>
            <a:outerShdw blurRad="228600" dist="508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274320" y="3026664"/>
            <a:ext cx="64008" cy="87782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" y="3227832"/>
            <a:ext cx="384048" cy="38404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005840" y="3063240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341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At-Risk Student Alerts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1005840" y="3429000"/>
            <a:ext cx="4160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flags when a student has low streak, poor topic coverage, or is falling behind peers — so you can intervene early.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274320" y="4014216"/>
            <a:ext cx="5029200" cy="877824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  <a:effectLst>
            <a:outerShdw blurRad="228600" dist="508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274320" y="4014216"/>
            <a:ext cx="64008" cy="87782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488" y="4215384"/>
            <a:ext cx="384048" cy="38404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005840" y="4050792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341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Direct Messaging &amp; Discussion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1005840" y="4416552"/>
            <a:ext cx="4160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students individually or post to discussion forums. Peer collaboration and faculty mentoring in one unified platform.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5532120" y="1051560"/>
            <a:ext cx="3337560" cy="3913632"/>
          </a:xfrm>
          <a:prstGeom prst="rect">
            <a:avLst/>
          </a:prstGeom>
          <a:solidFill>
            <a:srgbClr val="0F2541"/>
          </a:solidFill>
          <a:ln w="12700">
            <a:solidFill>
              <a:srgbClr val="1E3F6B"/>
            </a:solidFill>
            <a:prstDash val="solid"/>
          </a:ln>
          <a:effectLst>
            <a:outerShdw blurRad="1524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5532120" y="1051560"/>
            <a:ext cx="3337560" cy="914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5669280" y="1188720"/>
            <a:ext cx="3063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10B981"/>
                </a:solidFill>
              </a:rPr>
              <a:t>📖  REAL SCENARIO</a:t>
            </a:r>
            <a:endParaRPr lang="en-US" sz="1000" dirty="0"/>
          </a:p>
        </p:txBody>
      </p:sp>
      <p:sp>
        <p:nvSpPr>
          <p:cNvPr id="28" name="Text 22"/>
          <p:cNvSpPr/>
          <p:nvPr/>
        </p:nvSpPr>
        <p:spPr>
          <a:xfrm>
            <a:off x="5669280" y="160020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Prof. Sontale opens the dashboard before a CIE.</a:t>
            </a:r>
            <a:endParaRPr lang="en-US" sz="1300" dirty="0"/>
          </a:p>
        </p:txBody>
      </p:sp>
      <p:sp>
        <p:nvSpPr>
          <p:cNvPr id="29" name="Shape 23"/>
          <p:cNvSpPr/>
          <p:nvPr/>
        </p:nvSpPr>
        <p:spPr>
          <a:xfrm>
            <a:off x="5669280" y="2240280"/>
            <a:ext cx="201168" cy="20116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5943600" y="2212848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students flagged at-risk</a:t>
            </a:r>
            <a:endParaRPr lang="en-US" sz="1100" dirty="0"/>
          </a:p>
        </p:txBody>
      </p:sp>
      <p:sp>
        <p:nvSpPr>
          <p:cNvPr id="31" name="Shape 25"/>
          <p:cNvSpPr/>
          <p:nvPr/>
        </p:nvSpPr>
        <p:spPr>
          <a:xfrm>
            <a:off x="5669280" y="2788920"/>
            <a:ext cx="201168" cy="20116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2" name="Text 26"/>
          <p:cNvSpPr/>
          <p:nvPr/>
        </p:nvSpPr>
        <p:spPr>
          <a:xfrm>
            <a:off x="5943600" y="2761488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avg: 42 problems solved</a:t>
            </a:r>
            <a:endParaRPr lang="en-US" sz="1100" dirty="0"/>
          </a:p>
        </p:txBody>
      </p:sp>
      <p:sp>
        <p:nvSpPr>
          <p:cNvPr id="33" name="Shape 27"/>
          <p:cNvSpPr/>
          <p:nvPr/>
        </p:nvSpPr>
        <p:spPr>
          <a:xfrm>
            <a:off x="5669280" y="3337560"/>
            <a:ext cx="201168" cy="20116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4" name="Text 28"/>
          <p:cNvSpPr/>
          <p:nvPr/>
        </p:nvSpPr>
        <p:spPr>
          <a:xfrm>
            <a:off x="5943600" y="3310128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topic: Dynamic Programming</a:t>
            </a:r>
            <a:endParaRPr lang="en-US" sz="1100" dirty="0"/>
          </a:p>
        </p:txBody>
      </p:sp>
      <p:sp>
        <p:nvSpPr>
          <p:cNvPr id="35" name="Shape 29"/>
          <p:cNvSpPr/>
          <p:nvPr/>
        </p:nvSpPr>
        <p:spPr>
          <a:xfrm>
            <a:off x="5669280" y="3886200"/>
            <a:ext cx="201168" cy="20116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6" name="Text 30"/>
          <p:cNvSpPr/>
          <p:nvPr/>
        </p:nvSpPr>
        <p:spPr>
          <a:xfrm>
            <a:off x="5943600" y="3858768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 report downloaded in 1 click</a:t>
            </a:r>
            <a:endParaRPr lang="en-US" sz="1100" dirty="0"/>
          </a:p>
        </p:txBody>
      </p:sp>
      <p:sp>
        <p:nvSpPr>
          <p:cNvPr id="37" name="Shape 31"/>
          <p:cNvSpPr/>
          <p:nvPr/>
        </p:nvSpPr>
        <p:spPr>
          <a:xfrm>
            <a:off x="5669280" y="4434840"/>
            <a:ext cx="3017520" cy="41148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8" name="Text 32"/>
          <p:cNvSpPr/>
          <p:nvPr/>
        </p:nvSpPr>
        <p:spPr>
          <a:xfrm>
            <a:off x="5669280" y="44348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628"/>
                </a:solidFill>
              </a:rPr>
              <a:t>⏱  Hours of manual work → 1 click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25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788" y="-177956"/>
            <a:ext cx="32004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300" dirty="0">
                <a:solidFill>
                  <a:srgbClr val="10B981"/>
                </a:solidFill>
              </a:rPr>
              <a:t>MANAGEMENT BENEFITS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1716258" y="0"/>
            <a:ext cx="742774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Strategic Insights for HODs, Deans &amp; Administrators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4160520" cy="1828800"/>
          </a:xfrm>
          <a:prstGeom prst="rect">
            <a:avLst/>
          </a:prstGeom>
          <a:solidFill>
            <a:srgbClr val="17365A"/>
          </a:solidFill>
          <a:ln w="6350">
            <a:solidFill>
              <a:srgbClr val="1E3F6B"/>
            </a:solidFill>
            <a:prstDash val="solid"/>
          </a:ln>
          <a:effectLst>
            <a:outerShdw blurRad="1524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51560"/>
            <a:ext cx="4160520" cy="914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52728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87552" y="1216152"/>
            <a:ext cx="3291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Curriculum Gap Analysis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57200" y="1764792"/>
            <a:ext cx="3840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which DSA topics are consistently weak across batches. Back curriculum review meetings with evidence, not assumptions.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743200" y="2587752"/>
            <a:ext cx="1600200" cy="219456"/>
          </a:xfrm>
          <a:prstGeom prst="roundRect">
            <a:avLst>
              <a:gd name="adj" fmla="val 16667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743200" y="2587752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A1628"/>
                </a:solidFill>
              </a:rPr>
              <a:t>Data-Driven Decisions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4709160" y="1051560"/>
            <a:ext cx="4160520" cy="1828800"/>
          </a:xfrm>
          <a:prstGeom prst="rect">
            <a:avLst/>
          </a:prstGeom>
          <a:solidFill>
            <a:srgbClr val="17365A"/>
          </a:solidFill>
          <a:ln w="6350">
            <a:solidFill>
              <a:srgbClr val="1E3F6B"/>
            </a:solidFill>
            <a:prstDash val="solid"/>
          </a:ln>
          <a:effectLst>
            <a:outerShdw blurRad="1524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709160" y="1051560"/>
            <a:ext cx="4160520" cy="914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1252728"/>
            <a:ext cx="411480" cy="41148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422392" y="1216152"/>
            <a:ext cx="3291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OBE Compliance Tracking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4892040" y="1764792"/>
            <a:ext cx="3840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coding activity to course outcomes. Generate outcome attainment reports to satisfy NAAC/NBA accreditation requirements automatically.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7178040" y="2587752"/>
            <a:ext cx="1600200" cy="219456"/>
          </a:xfrm>
          <a:prstGeom prst="roundRect">
            <a:avLst>
              <a:gd name="adj" fmla="val 16667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7178040" y="2587752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A1628"/>
                </a:solidFill>
              </a:rPr>
              <a:t>Accreditation Ready</a:t>
            </a:r>
            <a:endParaRPr lang="en-US" sz="800" dirty="0"/>
          </a:p>
        </p:txBody>
      </p:sp>
      <p:sp>
        <p:nvSpPr>
          <p:cNvPr id="19" name="Shape 15"/>
          <p:cNvSpPr/>
          <p:nvPr/>
        </p:nvSpPr>
        <p:spPr>
          <a:xfrm>
            <a:off x="274320" y="3017520"/>
            <a:ext cx="4160520" cy="1828800"/>
          </a:xfrm>
          <a:prstGeom prst="rect">
            <a:avLst/>
          </a:prstGeom>
          <a:solidFill>
            <a:srgbClr val="17365A"/>
          </a:solidFill>
          <a:ln w="6350">
            <a:solidFill>
              <a:srgbClr val="1E3F6B"/>
            </a:solidFill>
            <a:prstDash val="solid"/>
          </a:ln>
          <a:effectLst>
            <a:outerShdw blurRad="1524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274320" y="3017520"/>
            <a:ext cx="4160520" cy="914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3218688"/>
            <a:ext cx="411480" cy="41148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987552" y="3182112"/>
            <a:ext cx="3291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Placement Readiness Index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457200" y="3730752"/>
            <a:ext cx="3840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exactly how ready each student is for campus interviews at Infosys, TCS, and Wipro — before they walk into the placement office.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2743200" y="4553712"/>
            <a:ext cx="1600200" cy="219456"/>
          </a:xfrm>
          <a:prstGeom prst="roundRect">
            <a:avLst>
              <a:gd name="adj" fmla="val 16667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2743200" y="4553712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A1628"/>
                </a:solidFill>
              </a:rPr>
              <a:t>Industry Aligned</a:t>
            </a:r>
            <a:endParaRPr lang="en-US" sz="800" dirty="0"/>
          </a:p>
        </p:txBody>
      </p:sp>
      <p:sp>
        <p:nvSpPr>
          <p:cNvPr id="26" name="Shape 21"/>
          <p:cNvSpPr/>
          <p:nvPr/>
        </p:nvSpPr>
        <p:spPr>
          <a:xfrm>
            <a:off x="4709160" y="3017520"/>
            <a:ext cx="4160520" cy="1828800"/>
          </a:xfrm>
          <a:prstGeom prst="rect">
            <a:avLst/>
          </a:prstGeom>
          <a:solidFill>
            <a:srgbClr val="17365A"/>
          </a:solidFill>
          <a:ln w="6350">
            <a:solidFill>
              <a:srgbClr val="1E3F6B"/>
            </a:solidFill>
            <a:prstDash val="solid"/>
          </a:ln>
          <a:effectLst>
            <a:outerShdw blurRad="1524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4709160" y="3017520"/>
            <a:ext cx="4160520" cy="914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92040" y="3218688"/>
            <a:ext cx="411480" cy="41148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5422392" y="3182112"/>
            <a:ext cx="3291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Batch-vs-Batch Benchmarking</a:t>
            </a:r>
            <a:endParaRPr lang="en-US" sz="1300" dirty="0"/>
          </a:p>
        </p:txBody>
      </p:sp>
      <p:sp>
        <p:nvSpPr>
          <p:cNvPr id="30" name="Text 24"/>
          <p:cNvSpPr/>
          <p:nvPr/>
        </p:nvSpPr>
        <p:spPr>
          <a:xfrm>
            <a:off x="4892040" y="3730752"/>
            <a:ext cx="3840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performance across batches, sections and semesters. Identify which faculty interventions are working and replicate them.</a:t>
            </a:r>
            <a:endParaRPr lang="en-US" sz="1100" dirty="0"/>
          </a:p>
        </p:txBody>
      </p:sp>
      <p:sp>
        <p:nvSpPr>
          <p:cNvPr id="31" name="Shape 25"/>
          <p:cNvSpPr/>
          <p:nvPr/>
        </p:nvSpPr>
        <p:spPr>
          <a:xfrm>
            <a:off x="7178040" y="4553712"/>
            <a:ext cx="1600200" cy="219456"/>
          </a:xfrm>
          <a:prstGeom prst="roundRect">
            <a:avLst>
              <a:gd name="adj" fmla="val 16667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2" name="Text 26"/>
          <p:cNvSpPr/>
          <p:nvPr/>
        </p:nvSpPr>
        <p:spPr>
          <a:xfrm>
            <a:off x="7178040" y="4553712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A1628"/>
                </a:solidFill>
              </a:rPr>
              <a:t>Institutional Intelligence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2541"/>
          </a:solidFill>
          <a:ln w="12700">
            <a:solidFill>
              <a:srgbClr val="0F254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32004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300" dirty="0">
                <a:solidFill>
                  <a:srgbClr val="10B981"/>
                </a:solidFill>
              </a:rPr>
              <a:t>STUDENT BENEFITS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1702190" y="0"/>
            <a:ext cx="7441809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Personalized Learning Powered by AI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3200400" cy="3913632"/>
          </a:xfrm>
          <a:prstGeom prst="rect">
            <a:avLst/>
          </a:prstGeom>
          <a:solidFill>
            <a:srgbClr val="0F2541"/>
          </a:solidFill>
          <a:ln w="12700">
            <a:solidFill>
              <a:srgbClr val="1E3F6B"/>
            </a:solidFill>
            <a:prstDash val="solid"/>
          </a:ln>
          <a:effectLst>
            <a:outerShdw blurRad="1524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51560"/>
            <a:ext cx="3200400" cy="9144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234440"/>
            <a:ext cx="28346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</a:t>
            </a:r>
            <a:endParaRPr lang="en-US" sz="2200" dirty="0"/>
          </a:p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Generic Lists</a:t>
            </a:r>
            <a:endParaRPr lang="en-US" sz="2200" dirty="0"/>
          </a:p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 a Personal</a:t>
            </a:r>
            <a:endParaRPr lang="en-US" sz="2200" dirty="0"/>
          </a:p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Learning Path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" y="3291840"/>
            <a:ext cx="2743200" cy="256032"/>
          </a:xfrm>
          <a:prstGeom prst="rect">
            <a:avLst/>
          </a:prstGeom>
          <a:solidFill>
            <a:srgbClr val="1E3F6B"/>
          </a:solidFill>
          <a:ln w="12700">
            <a:solidFill>
              <a:srgbClr val="17365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291840"/>
            <a:ext cx="2743200" cy="256032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EE7B7"/>
                </a:solidFill>
              </a:rPr>
              <a:t>1.  Login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3611880"/>
            <a:ext cx="2743200" cy="256032"/>
          </a:xfrm>
          <a:prstGeom prst="rect">
            <a:avLst/>
          </a:prstGeom>
          <a:solidFill>
            <a:srgbClr val="1E3F6B"/>
          </a:solidFill>
          <a:ln w="12700">
            <a:solidFill>
              <a:srgbClr val="17365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611880"/>
            <a:ext cx="2743200" cy="256032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EE7B7"/>
                </a:solidFill>
              </a:rPr>
              <a:t>2.  AI Analysis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3931920"/>
            <a:ext cx="2743200" cy="256032"/>
          </a:xfrm>
          <a:prstGeom prst="rect">
            <a:avLst/>
          </a:prstGeom>
          <a:solidFill>
            <a:srgbClr val="1E3F6B"/>
          </a:solidFill>
          <a:ln w="12700">
            <a:solidFill>
              <a:srgbClr val="17365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931920"/>
            <a:ext cx="2743200" cy="256032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EE7B7"/>
                </a:solidFill>
              </a:rPr>
              <a:t>3.  Custom Problems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4251960"/>
            <a:ext cx="2743200" cy="256032"/>
          </a:xfrm>
          <a:prstGeom prst="rect">
            <a:avLst/>
          </a:prstGeom>
          <a:solidFill>
            <a:srgbClr val="1E3F6B"/>
          </a:solidFill>
          <a:ln w="12700">
            <a:solidFill>
              <a:srgbClr val="17365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4251960"/>
            <a:ext cx="2743200" cy="256032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EE7B7"/>
                </a:solidFill>
              </a:rPr>
              <a:t>4.  Track Progress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4572000"/>
            <a:ext cx="2743200" cy="25603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4572000"/>
            <a:ext cx="2743200" cy="256032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1628"/>
                </a:solidFill>
              </a:rPr>
              <a:t>5.  Placement Ready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703320" y="1051560"/>
            <a:ext cx="5166360" cy="877824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  <a:effectLst>
            <a:outerShdw blurRad="228600" dist="508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703320" y="1051560"/>
            <a:ext cx="64008" cy="87782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3632" y="1252728"/>
            <a:ext cx="365760" cy="36576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4407408" y="1088136"/>
            <a:ext cx="4343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341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AI-Personalised Problem Suggestions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4407408" y="1453896"/>
            <a:ext cx="4297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Transformer engine suggests the next problem based on their history, skill level and weak topics.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3703320" y="2039112"/>
            <a:ext cx="5166360" cy="877824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  <a:effectLst>
            <a:outerShdw blurRad="228600" dist="508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3703320" y="2039112"/>
            <a:ext cx="64008" cy="87782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pic>
        <p:nvPicPr>
          <p:cNvPr id="2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13632" y="2240280"/>
            <a:ext cx="365760" cy="365760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4407408" y="2075688"/>
            <a:ext cx="4343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341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Unified Progress Dashboard</a:t>
            </a:r>
            <a:endParaRPr lang="en-US" sz="1250" dirty="0"/>
          </a:p>
        </p:txBody>
      </p:sp>
      <p:sp>
        <p:nvSpPr>
          <p:cNvPr id="27" name="Text 23"/>
          <p:cNvSpPr/>
          <p:nvPr/>
        </p:nvSpPr>
        <p:spPr>
          <a:xfrm>
            <a:off x="4407408" y="2441448"/>
            <a:ext cx="4297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platforms (LeetCode, Codeforces, GFG) in one view — streaks, topics, difficulty distribution.</a:t>
            </a:r>
            <a:endParaRPr lang="en-US" sz="1050" dirty="0"/>
          </a:p>
        </p:txBody>
      </p:sp>
      <p:sp>
        <p:nvSpPr>
          <p:cNvPr id="28" name="Shape 24"/>
          <p:cNvSpPr/>
          <p:nvPr/>
        </p:nvSpPr>
        <p:spPr>
          <a:xfrm>
            <a:off x="3703320" y="3026664"/>
            <a:ext cx="5166360" cy="877824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  <a:effectLst>
            <a:outerShdw blurRad="228600" dist="508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9" name="Shape 25"/>
          <p:cNvSpPr/>
          <p:nvPr/>
        </p:nvSpPr>
        <p:spPr>
          <a:xfrm>
            <a:off x="3703320" y="3026664"/>
            <a:ext cx="64008" cy="87782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pic>
        <p:nvPicPr>
          <p:cNvPr id="3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13632" y="3227832"/>
            <a:ext cx="365760" cy="365760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4407408" y="3063240"/>
            <a:ext cx="4343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341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Placement Readiness Roadmap</a:t>
            </a:r>
            <a:endParaRPr lang="en-US" sz="1250" dirty="0"/>
          </a:p>
        </p:txBody>
      </p:sp>
      <p:sp>
        <p:nvSpPr>
          <p:cNvPr id="32" name="Text 27"/>
          <p:cNvSpPr/>
          <p:nvPr/>
        </p:nvSpPr>
        <p:spPr>
          <a:xfrm>
            <a:off x="4407408" y="3429000"/>
            <a:ext cx="4297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exactly which topics to focus on to crack Infosys/TCS interviews. AI-generated study plan.</a:t>
            </a:r>
            <a:endParaRPr lang="en-US" sz="1050" dirty="0"/>
          </a:p>
        </p:txBody>
      </p:sp>
      <p:sp>
        <p:nvSpPr>
          <p:cNvPr id="33" name="Shape 28"/>
          <p:cNvSpPr/>
          <p:nvPr/>
        </p:nvSpPr>
        <p:spPr>
          <a:xfrm>
            <a:off x="3703320" y="4014216"/>
            <a:ext cx="5166360" cy="877824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  <a:effectLst>
            <a:outerShdw blurRad="228600" dist="508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4" name="Shape 29"/>
          <p:cNvSpPr/>
          <p:nvPr/>
        </p:nvSpPr>
        <p:spPr>
          <a:xfrm>
            <a:off x="3703320" y="4014216"/>
            <a:ext cx="64008" cy="87782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pic>
        <p:nvPicPr>
          <p:cNvPr id="3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13632" y="4215384"/>
            <a:ext cx="365760" cy="365760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4407408" y="4050792"/>
            <a:ext cx="4343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341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Shareable Public Portfolio</a:t>
            </a:r>
            <a:endParaRPr lang="en-US" sz="1250" dirty="0"/>
          </a:p>
        </p:txBody>
      </p:sp>
      <p:sp>
        <p:nvSpPr>
          <p:cNvPr id="37" name="Text 31"/>
          <p:cNvSpPr/>
          <p:nvPr/>
        </p:nvSpPr>
        <p:spPr>
          <a:xfrm>
            <a:off x="4407408" y="4416552"/>
            <a:ext cx="4297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link that shows total problems solved, platforms used, and achievements — for any recruiter.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2541"/>
          </a:solidFill>
          <a:ln w="12700">
            <a:solidFill>
              <a:srgbClr val="0F254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404797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kern="0" spc="300" dirty="0">
                <a:solidFill>
                  <a:srgbClr val="10B981"/>
                </a:solidFill>
              </a:rPr>
              <a:t>SYSTEM ARCHITECTURE</a:t>
            </a:r>
            <a:endParaRPr lang="en-US" sz="2500" dirty="0"/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A18E8175-B956-3EA3-FE92-CFFCC48EFF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664" y="1029405"/>
            <a:ext cx="8102672" cy="402793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2541"/>
          </a:solidFill>
          <a:ln w="12700">
            <a:solidFill>
              <a:srgbClr val="0F254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32004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kern="0" spc="300" dirty="0">
                <a:solidFill>
                  <a:srgbClr val="10B981"/>
                </a:solidFill>
              </a:rPr>
              <a:t>AI ENGINE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4023360" cy="3913632"/>
          </a:xfrm>
          <a:prstGeom prst="rect">
            <a:avLst/>
          </a:prstGeom>
          <a:solidFill>
            <a:srgbClr val="0F2541"/>
          </a:solidFill>
          <a:ln w="12700">
            <a:solidFill>
              <a:srgbClr val="1E3F6B"/>
            </a:solidFill>
            <a:prstDash val="solid"/>
          </a:ln>
          <a:effectLst>
            <a:outerShdw blurRad="1524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51560"/>
            <a:ext cx="4023360" cy="914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88720"/>
            <a:ext cx="3657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Self-Trained AI.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" y="2212848"/>
            <a:ext cx="182880" cy="18288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" y="2176272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 3,433 real LeetCode problems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49808" y="2423160"/>
            <a:ext cx="3383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Understands problem content, tags, difficulty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743200"/>
            <a:ext cx="182880" cy="18288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" y="2706624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from each student's history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749808" y="2953512"/>
            <a:ext cx="3383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transformer tracks skill progression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3273552"/>
            <a:ext cx="182880" cy="18288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9808" y="3236976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what to solve next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749808" y="3483864"/>
            <a:ext cx="3383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 probability · Helpfulness · Difficulty fit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3803904"/>
            <a:ext cx="182880" cy="18288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9808" y="376732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topic clusters, 99.22% purity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749808" y="4014216"/>
            <a:ext cx="3383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Semantically organised — problems grouped by concept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4334256"/>
            <a:ext cx="182880" cy="18288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9808" y="429768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Ranks problems, not just lists them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49808" y="4544568"/>
            <a:ext cx="3383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NDCG@10: 75.48%  ·  MRR: 89.66%</a:t>
            </a:r>
            <a:endParaRPr lang="en-US" sz="1000" dirty="0"/>
          </a:p>
        </p:txBody>
      </p:sp>
      <p:pic>
        <p:nvPicPr>
          <p:cNvPr id="49" name="Picture 48">
            <a:extLst>
              <a:ext uri="{FF2B5EF4-FFF2-40B4-BE49-F238E27FC236}">
                <a16:creationId xmlns:a16="http://schemas.microsoft.com/office/drawing/2014/main" id="{4E80C958-A5D7-6A11-A007-6834800BA82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2877" b="6847"/>
          <a:stretch>
            <a:fillRect/>
          </a:stretch>
        </p:blipFill>
        <p:spPr>
          <a:xfrm>
            <a:off x="4332850" y="1051560"/>
            <a:ext cx="4740812" cy="391363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25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40690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kern="0" spc="300" dirty="0">
                <a:solidFill>
                  <a:srgbClr val="10B981"/>
                </a:solidFill>
              </a:rPr>
              <a:t>PERFORMANCE METRICS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1965960" cy="1536192"/>
          </a:xfrm>
          <a:prstGeom prst="rect">
            <a:avLst/>
          </a:prstGeom>
          <a:solidFill>
            <a:srgbClr val="17365A"/>
          </a:solidFill>
          <a:ln w="7620">
            <a:solidFill>
              <a:srgbClr val="000000"/>
            </a:solidFill>
            <a:prstDash val="solid"/>
          </a:ln>
          <a:effectLst>
            <a:outerShdw blurRad="1524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51560"/>
            <a:ext cx="1965960" cy="7315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170432"/>
            <a:ext cx="19659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596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99.22%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365760" y="1920240"/>
            <a:ext cx="1783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Cluster Purity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65760" y="2212848"/>
            <a:ext cx="1783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of 11 topic clusters at 100%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441448" y="1051560"/>
            <a:ext cx="1965960" cy="1536192"/>
          </a:xfrm>
          <a:prstGeom prst="rect">
            <a:avLst/>
          </a:prstGeom>
          <a:solidFill>
            <a:srgbClr val="17365A"/>
          </a:solidFill>
          <a:ln w="7620">
            <a:solidFill>
              <a:srgbClr val="000000"/>
            </a:solidFill>
            <a:prstDash val="solid"/>
          </a:ln>
          <a:effectLst>
            <a:outerShdw blurRad="1524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41448" y="1051560"/>
            <a:ext cx="196596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41448" y="1170432"/>
            <a:ext cx="19659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89.66%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2532888" y="1920240"/>
            <a:ext cx="1783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MRR Score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2532888" y="2212848"/>
            <a:ext cx="1783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Relevant problem always near top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608576" y="1051560"/>
            <a:ext cx="1965960" cy="1536192"/>
          </a:xfrm>
          <a:prstGeom prst="rect">
            <a:avLst/>
          </a:prstGeom>
          <a:solidFill>
            <a:srgbClr val="17365A"/>
          </a:solidFill>
          <a:ln w="7620">
            <a:solidFill>
              <a:srgbClr val="000000"/>
            </a:solidFill>
            <a:prstDash val="solid"/>
          </a:ln>
          <a:effectLst>
            <a:outerShdw blurRad="1524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08576" y="1051560"/>
            <a:ext cx="1965960" cy="7315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08576" y="1170432"/>
            <a:ext cx="19659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EA5E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75.48%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4700016" y="1920240"/>
            <a:ext cx="1783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NDCG@10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700016" y="2212848"/>
            <a:ext cx="1783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ranking performance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775704" y="1051560"/>
            <a:ext cx="1965960" cy="1536192"/>
          </a:xfrm>
          <a:prstGeom prst="rect">
            <a:avLst/>
          </a:prstGeom>
          <a:solidFill>
            <a:srgbClr val="17365A"/>
          </a:solidFill>
          <a:ln w="7620">
            <a:solidFill>
              <a:srgbClr val="000000"/>
            </a:solidFill>
            <a:prstDash val="solid"/>
          </a:ln>
          <a:effectLst>
            <a:outerShdw blurRad="1524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775704" y="1051560"/>
            <a:ext cx="1965960" cy="7315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75704" y="1170432"/>
            <a:ext cx="19659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A78B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6.10 MB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6867144" y="1920240"/>
            <a:ext cx="1783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Model Size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867144" y="2212848"/>
            <a:ext cx="1783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Compact — deployable on any server</a:t>
            </a:r>
            <a:endParaRPr lang="en-US" sz="900" dirty="0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1BB67EE4-032A-7449-4C0B-6513ABBBBA3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9058" r="49010"/>
          <a:stretch>
            <a:fillRect/>
          </a:stretch>
        </p:blipFill>
        <p:spPr>
          <a:xfrm>
            <a:off x="4597895" y="2679192"/>
            <a:ext cx="4143769" cy="2340806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C084D32F-3934-82CB-641E-EECD56C7AAA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0590" b="51289"/>
          <a:stretch>
            <a:fillRect/>
          </a:stretch>
        </p:blipFill>
        <p:spPr>
          <a:xfrm>
            <a:off x="274319" y="2675676"/>
            <a:ext cx="4143769" cy="238652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2541"/>
          </a:solidFill>
          <a:ln w="12700">
            <a:solidFill>
              <a:srgbClr val="0F254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Built &amp; Working Right Now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5029200" cy="3913632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  <a:prstDash val="solid"/>
          </a:ln>
          <a:effectLst>
            <a:outerShdw blurRad="228600" dist="508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51560"/>
            <a:ext cx="5029200" cy="7315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15568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596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  Implemented &amp; Working</a:t>
            </a:r>
            <a:endParaRPr lang="en-US" sz="13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" y="1600200"/>
            <a:ext cx="237744" cy="23774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68096" y="1581912"/>
            <a:ext cx="4434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Multi-role authentication (Student / Faculty / Admin / Super Admin)</a:t>
            </a:r>
            <a:endParaRPr lang="en-US" sz="105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" y="2103120"/>
            <a:ext cx="237744" cy="23774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68096" y="2078736"/>
            <a:ext cx="4434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scraping from LeetCode, Codeforces &amp; GitHub (3 platforms fully live)</a:t>
            </a:r>
            <a:endParaRPr lang="en-US" sz="10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" y="2606040"/>
            <a:ext cx="237744" cy="23774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68096" y="2575560"/>
            <a:ext cx="4434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Celery workers — automatic nightly sync with retry &amp; rate-limit handling</a:t>
            </a:r>
            <a:endParaRPr lang="en-US" sz="105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" y="3108960"/>
            <a:ext cx="237744" cy="237744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768096" y="3072384"/>
            <a:ext cx="4434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dashboard — total solved, streaks, topic distribution, 365-day heatmap</a:t>
            </a:r>
            <a:endParaRPr lang="en-US" sz="105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" y="3611880"/>
            <a:ext cx="237744" cy="237744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768096" y="3569208"/>
            <a:ext cx="4434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Self-trained Transformer DSA Recommender (1.6M params, 6.10 MB, CPU-ready)</a:t>
            </a:r>
            <a:endParaRPr lang="en-US" sz="105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" y="4114800"/>
            <a:ext cx="237744" cy="237744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768096" y="4066032"/>
            <a:ext cx="4434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schema with Alembic migrations + Redis caching (1hr TTL)</a:t>
            </a:r>
            <a:endParaRPr lang="en-US" sz="1050" dirty="0"/>
          </a:p>
        </p:txBody>
      </p:sp>
      <p:pic>
        <p:nvPicPr>
          <p:cNvPr id="20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" y="4617720"/>
            <a:ext cx="237744" cy="237744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768096" y="4562856"/>
            <a:ext cx="4434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shareable portfolio with view tracking</a:t>
            </a:r>
            <a:endParaRPr lang="en-US" sz="1050" dirty="0"/>
          </a:p>
        </p:txBody>
      </p:sp>
      <p:sp>
        <p:nvSpPr>
          <p:cNvPr id="24" name="Shape 14"/>
          <p:cNvSpPr/>
          <p:nvPr/>
        </p:nvSpPr>
        <p:spPr>
          <a:xfrm>
            <a:off x="5486400" y="1051560"/>
            <a:ext cx="3383280" cy="2487168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  <a:prstDash val="solid"/>
          </a:ln>
          <a:effectLst>
            <a:outerShdw blurRad="228600" dist="508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Shape 15"/>
          <p:cNvSpPr/>
          <p:nvPr/>
        </p:nvSpPr>
        <p:spPr>
          <a:xfrm>
            <a:off x="5486400" y="1051560"/>
            <a:ext cx="3383280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6" name="Text 16"/>
          <p:cNvSpPr/>
          <p:nvPr/>
        </p:nvSpPr>
        <p:spPr>
          <a:xfrm>
            <a:off x="5669280" y="1115568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⏳  In Progress</a:t>
            </a:r>
            <a:endParaRPr lang="en-US" sz="1300" dirty="0"/>
          </a:p>
        </p:txBody>
      </p:sp>
      <p:pic>
        <p:nvPicPr>
          <p:cNvPr id="27" name="Image 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50992" y="1600200"/>
            <a:ext cx="237744" cy="237744"/>
          </a:xfrm>
          <a:prstGeom prst="rect">
            <a:avLst/>
          </a:prstGeom>
        </p:spPr>
      </p:pic>
      <p:sp>
        <p:nvSpPr>
          <p:cNvPr id="28" name="Text 17"/>
          <p:cNvSpPr/>
          <p:nvPr/>
        </p:nvSpPr>
        <p:spPr>
          <a:xfrm>
            <a:off x="5980176" y="1469368"/>
            <a:ext cx="2788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CodeChef, HackerRank, GFG connectors (framework ready, connectors in progress)</a:t>
            </a:r>
            <a:endParaRPr lang="en-US" sz="1000" dirty="0"/>
          </a:p>
        </p:txBody>
      </p:sp>
      <p:pic>
        <p:nvPicPr>
          <p:cNvPr id="29" name="Image 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50992" y="2167128"/>
            <a:ext cx="237744" cy="237744"/>
          </a:xfrm>
          <a:prstGeom prst="rect">
            <a:avLst/>
          </a:prstGeom>
        </p:spPr>
      </p:pic>
      <p:sp>
        <p:nvSpPr>
          <p:cNvPr id="30" name="Text 18"/>
          <p:cNvSpPr/>
          <p:nvPr/>
        </p:nvSpPr>
        <p:spPr>
          <a:xfrm>
            <a:off x="5980176" y="2022228"/>
            <a:ext cx="2788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BI Dashboard with cohort-level analytics and batch comparisons</a:t>
            </a:r>
            <a:endParaRPr lang="en-US" sz="1000" dirty="0"/>
          </a:p>
        </p:txBody>
      </p:sp>
      <p:pic>
        <p:nvPicPr>
          <p:cNvPr id="31" name="Image 1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50992" y="2734056"/>
            <a:ext cx="237744" cy="237744"/>
          </a:xfrm>
          <a:prstGeom prst="rect">
            <a:avLst/>
          </a:prstGeom>
        </p:spPr>
      </p:pic>
      <p:sp>
        <p:nvSpPr>
          <p:cNvPr id="32" name="Text 19"/>
          <p:cNvSpPr/>
          <p:nvPr/>
        </p:nvSpPr>
        <p:spPr>
          <a:xfrm>
            <a:off x="5980176" y="2603224"/>
            <a:ext cx="2788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CIE report PDF generation</a:t>
            </a:r>
            <a:endParaRPr lang="en-US" sz="1000" dirty="0"/>
          </a:p>
        </p:txBody>
      </p:sp>
      <p:pic>
        <p:nvPicPr>
          <p:cNvPr id="33" name="Image 1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50992" y="3160304"/>
            <a:ext cx="237744" cy="237744"/>
          </a:xfrm>
          <a:prstGeom prst="rect">
            <a:avLst/>
          </a:prstGeom>
        </p:spPr>
      </p:pic>
      <p:sp>
        <p:nvSpPr>
          <p:cNvPr id="34" name="Text 20"/>
          <p:cNvSpPr/>
          <p:nvPr/>
        </p:nvSpPr>
        <p:spPr>
          <a:xfrm>
            <a:off x="5980176" y="3049524"/>
            <a:ext cx="2788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direct messaging via WebSockets</a:t>
            </a:r>
            <a:endParaRPr lang="en-US" sz="1000" dirty="0"/>
          </a:p>
        </p:txBody>
      </p:sp>
      <p:sp>
        <p:nvSpPr>
          <p:cNvPr id="35" name="Shape 21"/>
          <p:cNvSpPr/>
          <p:nvPr/>
        </p:nvSpPr>
        <p:spPr>
          <a:xfrm>
            <a:off x="5486400" y="3657600"/>
            <a:ext cx="3383280" cy="1307592"/>
          </a:xfrm>
          <a:prstGeom prst="rect">
            <a:avLst/>
          </a:prstGeom>
          <a:solidFill>
            <a:srgbClr val="0F2541"/>
          </a:solidFill>
          <a:ln w="12700">
            <a:solidFill>
              <a:srgbClr val="1E3F6B"/>
            </a:solidFill>
            <a:prstDash val="solid"/>
          </a:ln>
          <a:effectLst>
            <a:outerShdw blurRad="1524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6" name="Text 22"/>
          <p:cNvSpPr/>
          <p:nvPr/>
        </p:nvSpPr>
        <p:spPr>
          <a:xfrm>
            <a:off x="5650992" y="3721608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 Stack at a Glance</a:t>
            </a:r>
            <a:endParaRPr lang="en-US" sz="1100" dirty="0"/>
          </a:p>
        </p:txBody>
      </p:sp>
      <p:sp>
        <p:nvSpPr>
          <p:cNvPr id="37" name="Text 23"/>
          <p:cNvSpPr/>
          <p:nvPr/>
        </p:nvSpPr>
        <p:spPr>
          <a:xfrm>
            <a:off x="5650992" y="4069080"/>
            <a:ext cx="3063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FastAPI + React 18 + TypeScript</a:t>
            </a:r>
            <a:endParaRPr lang="en-US" sz="950" dirty="0"/>
          </a:p>
        </p:txBody>
      </p:sp>
      <p:sp>
        <p:nvSpPr>
          <p:cNvPr id="38" name="Text 24"/>
          <p:cNvSpPr/>
          <p:nvPr/>
        </p:nvSpPr>
        <p:spPr>
          <a:xfrm>
            <a:off x="5650992" y="4343400"/>
            <a:ext cx="3063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PostgreSQL · Redis · RabbitMQ · Celery</a:t>
            </a:r>
            <a:endParaRPr lang="en-US" sz="950" dirty="0"/>
          </a:p>
        </p:txBody>
      </p:sp>
      <p:sp>
        <p:nvSpPr>
          <p:cNvPr id="39" name="Text 25"/>
          <p:cNvSpPr/>
          <p:nvPr/>
        </p:nvSpPr>
        <p:spPr>
          <a:xfrm>
            <a:off x="5650992" y="4617720"/>
            <a:ext cx="3063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Docker · Kubernetes · PyTorch (from scratch)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371600"/>
            <a:ext cx="6400800" cy="6400800"/>
          </a:xfrm>
          <a:prstGeom prst="ellipse">
            <a:avLst/>
          </a:prstGeom>
          <a:solidFill>
            <a:srgbClr val="0F2541"/>
          </a:solidFill>
          <a:ln w="12700">
            <a:solidFill>
              <a:srgbClr val="1E3F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1828800"/>
            <a:ext cx="5029200" cy="5029200"/>
          </a:xfrm>
          <a:prstGeom prst="ellipse">
            <a:avLst/>
          </a:prstGeom>
          <a:solidFill>
            <a:srgbClr val="17365A"/>
          </a:solidFill>
          <a:ln w="10160">
            <a:solidFill>
              <a:srgbClr val="1E3F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2296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457200" y="22860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i="1" dirty="0">
                <a:solidFill>
                  <a:srgbClr val="6EE7B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Questions Welcome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2926080" y="2971800"/>
            <a:ext cx="3291840" cy="36576"/>
          </a:xfrm>
          <a:prstGeom prst="rect">
            <a:avLst/>
          </a:prstGeom>
          <a:solidFill>
            <a:srgbClr val="1E3F6B"/>
          </a:solidFill>
          <a:ln w="12700">
            <a:solidFill>
              <a:srgbClr val="1E3F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10896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BD5E1"/>
                </a:solidFill>
              </a:rPr>
              <a:t>Vinay Kamble  ·  Shreeya Dhond  ·  Shrejal Bhosale  ·  Aisshwarya Gurav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347472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Dept. of Computer Science &amp; Engineering (AI &amp; ML)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" y="4005072"/>
            <a:ext cx="2084832" cy="841248"/>
          </a:xfrm>
          <a:prstGeom prst="rect">
            <a:avLst/>
          </a:prstGeom>
          <a:solidFill>
            <a:srgbClr val="17365A"/>
          </a:solidFill>
          <a:ln w="6350">
            <a:solidFill>
              <a:srgbClr val="1E3F6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" y="4005072"/>
            <a:ext cx="2084832" cy="5486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4059936"/>
            <a:ext cx="20848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Roles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320040" y="4480560"/>
            <a:ext cx="20848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Student · Faculty · Admin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514600" y="4005072"/>
            <a:ext cx="2084832" cy="841248"/>
          </a:xfrm>
          <a:prstGeom prst="rect">
            <a:avLst/>
          </a:prstGeom>
          <a:solidFill>
            <a:srgbClr val="17365A"/>
          </a:solidFill>
          <a:ln w="6350">
            <a:solidFill>
              <a:srgbClr val="1E3F6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514600" y="4005072"/>
            <a:ext cx="2084832" cy="5486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14600" y="4059936"/>
            <a:ext cx="20848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 Platforms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2514600" y="4480560"/>
            <a:ext cx="20848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Unified Tracking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09160" y="4005072"/>
            <a:ext cx="2084832" cy="841248"/>
          </a:xfrm>
          <a:prstGeom prst="rect">
            <a:avLst/>
          </a:prstGeom>
          <a:solidFill>
            <a:srgbClr val="17365A"/>
          </a:solidFill>
          <a:ln w="6350">
            <a:solidFill>
              <a:srgbClr val="1E3F6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09160" y="4005072"/>
            <a:ext cx="2084832" cy="5486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09160" y="4059936"/>
            <a:ext cx="20848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99.22%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4709160" y="4480560"/>
            <a:ext cx="20848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AI Cluster Purity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903720" y="4005072"/>
            <a:ext cx="2084832" cy="841248"/>
          </a:xfrm>
          <a:prstGeom prst="rect">
            <a:avLst/>
          </a:prstGeom>
          <a:solidFill>
            <a:srgbClr val="17365A"/>
          </a:solidFill>
          <a:ln w="6350">
            <a:solidFill>
              <a:srgbClr val="1E3F6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903720" y="4005072"/>
            <a:ext cx="2084832" cy="5486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03720" y="4059936"/>
            <a:ext cx="20848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1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6903720" y="4480560"/>
            <a:ext cx="20848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Fully Implemented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865</Words>
  <Application>Microsoft Office PowerPoint</Application>
  <PresentationFormat>On-screen Show (16:9)</PresentationFormat>
  <Paragraphs>150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Vinay Kamble</cp:lastModifiedBy>
  <cp:revision>3</cp:revision>
  <dcterms:created xsi:type="dcterms:W3CDTF">2026-04-27T18:59:28Z</dcterms:created>
  <dcterms:modified xsi:type="dcterms:W3CDTF">2026-04-27T19:26:39Z</dcterms:modified>
</cp:coreProperties>
</file>