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Ranking Performance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EE7B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NDCG@5</c:v>
                  </c:pt>
                  <c:pt idx="1">
                    <c:v>NDCG@10</c:v>
                  </c:pt>
                  <c:pt idx="2">
                    <c:v>NDCG@20</c:v>
                  </c:pt>
                  <c:pt idx="3">
                    <c:v>MRR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77.4</c:v>
                </c:pt>
                <c:pt idx="1">
                  <c:v>75.48</c:v>
                </c:pt>
                <c:pt idx="2">
                  <c:v>74.7</c:v>
                </c:pt>
                <c:pt idx="3">
                  <c:v>89.66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F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736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Model Size Distribution (6.10 MB Total)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0EA5E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Problem Encoder
3.65MB</c:v>
                </c:pt>
                <c:pt idx="1">
                  <c:v>User Encoder
0.51MB</c:v>
                </c:pt>
                <c:pt idx="2">
                  <c:v>Recommender
1.95MB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3.65</c:v>
                </c:pt>
                <c:pt idx="1">
                  <c:v>0.51</c:v>
                </c:pt>
                <c:pt idx="2">
                  <c:v>1.95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7365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2011680"/>
            <a:ext cx="5943600" cy="5943600"/>
          </a:xfrm>
          <a:prstGeom prst="ellipse">
            <a:avLst/>
          </a:prstGeom>
          <a:solidFill>
            <a:srgbClr val="17365A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F2541"/>
          </a:solidFill>
          <a:ln w="1016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7365A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438912"/>
            <a:ext cx="3291840" cy="384048"/>
          </a:xfrm>
          <a:prstGeom prst="roundRect">
            <a:avLst>
              <a:gd name="adj" fmla="val 9524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389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JURY IMPLEMENTATION PRESENTATION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8321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TechFootPrint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11480" y="22860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AI-Driven Coding Analytics &amp;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Academic Performance Intelligence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3310128"/>
            <a:ext cx="5029200" cy="32004"/>
          </a:xfrm>
          <a:prstGeom prst="rect">
            <a:avLst/>
          </a:prstGeom>
          <a:solidFill>
            <a:srgbClr val="1E3F6B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381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Vinay Kamble  ·  Shreeya Dhond  ·  Shrejal Bhosale  ·  Aisshwarya Gurav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11480" y="37947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Engineering (AI &amp; ML)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698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Platforms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Integrated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1272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Roles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262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846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Transformer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Recommender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583680" y="4315968"/>
            <a:ext cx="1920240" cy="65836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343400"/>
            <a:ext cx="685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242048" y="4370832"/>
            <a:ext cx="1234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Cluster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Purity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THE PROBLEM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Colleges Face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78992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78992"/>
            <a:ext cx="4160520" cy="640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5488" y="1261872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35024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07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Coding Visibility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75488" y="19019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see only final submissions. The learning journey — time spent, mistakes, attempts — is completely invisible to them.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09160" y="1078992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09160" y="1078992"/>
            <a:ext cx="416052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10328" y="1261872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335024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13075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Tracking Overhead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910328" y="1901952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and spot-checks create inconsistent CIE evaluations, massive administrative overhead, and zero scalability.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4320" y="3072384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072384"/>
            <a:ext cx="4160520" cy="640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5488" y="3255264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328416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33009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Personalized Guidance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75488" y="389534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generic practice sheets. Without adaptive paths, individual weaknesses go unaddressed until it's too late.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09160" y="3072384"/>
            <a:ext cx="4160520" cy="18288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09160" y="3072384"/>
            <a:ext cx="416052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10328" y="3255264"/>
            <a:ext cx="566928" cy="566928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328416"/>
            <a:ext cx="411480" cy="4114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623560" y="33009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Curriculum–Industry Gap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4910328" y="3895344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curriculum updates mean graduates lack the exact DSA and programming skills that companies like Infosys and TCS demand.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371600"/>
            <a:ext cx="4114800" cy="4114800"/>
          </a:xfrm>
          <a:prstGeom prst="ellipse">
            <a:avLst/>
          </a:prstGeom>
          <a:solidFill>
            <a:srgbClr val="17365A"/>
          </a:solidFill>
          <a:ln w="10160">
            <a:solidFill>
              <a:srgbClr val="1E3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1417320"/>
            <a:ext cx="2743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887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TechFootPrint serves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69164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Key</a:t>
            </a:r>
            <a:endParaRPr lang="en-US" sz="5800" dirty="0"/>
          </a:p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Stakeholders</a:t>
            </a:r>
            <a:endParaRPr lang="en-US" sz="5800" dirty="0"/>
          </a:p>
        </p:txBody>
      </p:sp>
      <p:sp>
        <p:nvSpPr>
          <p:cNvPr id="7" name="Shape 5"/>
          <p:cNvSpPr/>
          <p:nvPr/>
        </p:nvSpPr>
        <p:spPr>
          <a:xfrm>
            <a:off x="822960" y="391363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913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Faculty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474720" y="391363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3913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College Management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3913632"/>
            <a:ext cx="2377440" cy="658368"/>
          </a:xfrm>
          <a:prstGeom prst="roundRect">
            <a:avLst>
              <a:gd name="adj" fmla="val 8333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39136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FACULTY 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Empowering Faculty with Real Intelligence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52728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088136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Cohort Dashboard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005840" y="1453896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student's solve count, streak, difficulty level and topic coverage — live. No more waiting for end-semester reports.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74320" y="2039112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2039112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402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05840" y="2075688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One-Click CIE Report Generation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05840" y="2441448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 Continuous Internal Evaluation reports per student from actual coding activity data — saving hours of manual work.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3026664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74320" y="3026664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2783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05840" y="30632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At-Risk Student Alerts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005840" y="3429000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flags when a student has low streak, poor topic coverage, or is falling behind peers — so you can intervene early.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4014216"/>
            <a:ext cx="502920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4014216"/>
            <a:ext cx="64008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215384"/>
            <a:ext cx="384048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05840" y="405079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Messaging &amp; Discussion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005840" y="4416552"/>
            <a:ext cx="4160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students individually or post to discussion forums. Peer collaboration and faculty mentoring in one unified platform.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532120" y="1051560"/>
            <a:ext cx="3337560" cy="391363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532120" y="1051560"/>
            <a:ext cx="33375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669280" y="1188720"/>
            <a:ext cx="3063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</a:rPr>
              <a:t>📖  REAL SCENARIO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669280" y="1600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Prof. Sontale opens the dashboard before a CIE.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669280" y="22402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5943600" y="22128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students flagged at-risk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669280" y="278892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43600" y="2761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avg: 42 problems solved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5669280" y="333756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5943600" y="331012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topic: Dynamic Programming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5669280" y="388620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5943600" y="385876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 report downloaded in 1 click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5669280" y="4434840"/>
            <a:ext cx="3017520" cy="4114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5669280" y="44348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</a:rPr>
              <a:t>⏱  Hours of manual work → 1 click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MANAGEMENT 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Insights for HODs, Deans &amp; Administrators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52728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216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Gap Analysis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764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DSA topics are consistently weak across batches. Back curriculum review meetings with evidence, not assumptions.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258775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0" y="25877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Data-Driven Decisions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09160" y="105156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252728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2392" y="121615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 Compliance Tracking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892040" y="1764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coding activity to course outcomes. Generate outcome attainment reports to satisfy NAAC/NBA accreditation requirements automatically.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178040" y="258775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178040" y="258775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Accreditation Ready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274320" y="301752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18688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755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 Readiness Index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457200" y="37307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how ready each student is for campus interviews at Infosys, TCS, and Wipro — before they walk into the placement office.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2743200" y="455371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743200" y="45537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Industry Aligned</a:t>
            </a:r>
            <a:endParaRPr lang="en-US" sz="800" dirty="0"/>
          </a:p>
        </p:txBody>
      </p:sp>
      <p:sp>
        <p:nvSpPr>
          <p:cNvPr id="26" name="Shape 21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09160" y="3017520"/>
            <a:ext cx="416052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218688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422392" y="3182112"/>
            <a:ext cx="3291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Batch-vs-Batch Benchmarking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4892040" y="373075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across batches, sections and semesters. Identify which faculty interventions are working and replicate them.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7178040" y="4553712"/>
            <a:ext cx="1600200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178040" y="45537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1628"/>
                </a:solidFill>
              </a:rPr>
              <a:t>Institutional Intelligence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STUDENT BENEFITS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Personalized Learning Powered by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200400" cy="391363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200400" cy="914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8346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Lists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Personal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Path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1.  Login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61188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2.  AI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93192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3.  Custom Problems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4251960"/>
            <a:ext cx="2743200" cy="256032"/>
          </a:xfrm>
          <a:prstGeom prst="rect">
            <a:avLst/>
          </a:prstGeom>
          <a:solidFill>
            <a:srgbClr val="1E3F6B"/>
          </a:solidFill>
          <a:ln w="12700">
            <a:solidFill>
              <a:srgbClr val="1736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25196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</a:rPr>
              <a:t>4.  Track Progress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572000"/>
            <a:ext cx="2743200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572000"/>
            <a:ext cx="2743200" cy="25603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</a:rPr>
              <a:t>5.  Placement Ready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703320" y="1051560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03320" y="1051560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13632" y="1252728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407408" y="1088136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AI-Personalised Problem Suggestions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407408" y="1453896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Transformer engine suggests the next problem based on their history, skill level and weak topics.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703320" y="2039112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703320" y="2039112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3632" y="224028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407408" y="2075688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Progress Dashboard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407408" y="2441448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platforms (LeetCode, Codeforces, GFG) in one view — streaks, topics, difficulty distribution.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3703320" y="3026664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3703320" y="3026664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632" y="3227832"/>
            <a:ext cx="365760" cy="36576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407408" y="3063240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 Readiness Roadmap</a:t>
            </a:r>
            <a:endParaRPr lang="en-US" sz="1250" dirty="0"/>
          </a:p>
        </p:txBody>
      </p:sp>
      <p:sp>
        <p:nvSpPr>
          <p:cNvPr id="32" name="Text 27"/>
          <p:cNvSpPr/>
          <p:nvPr/>
        </p:nvSpPr>
        <p:spPr>
          <a:xfrm>
            <a:off x="4407408" y="3429000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which topics to focus on to crack Infosys/TCS interviews. AI-generated study plan.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3703320" y="4014216"/>
            <a:ext cx="5166360" cy="8778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703320" y="4014216"/>
            <a:ext cx="64008" cy="87782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3632" y="4215384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407408" y="405079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Shareable Public Portfolio</a:t>
            </a:r>
            <a:endParaRPr lang="en-US" sz="1250" dirty="0"/>
          </a:p>
        </p:txBody>
      </p:sp>
      <p:sp>
        <p:nvSpPr>
          <p:cNvPr id="37" name="Text 31"/>
          <p:cNvSpPr/>
          <p:nvPr/>
        </p:nvSpPr>
        <p:spPr>
          <a:xfrm>
            <a:off x="4407408" y="4416552"/>
            <a:ext cx="4297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that shows total problems solved, platforms used, and achievements — for any recruiter.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REAL-WORLD USAGE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TechFootPrint in Your College — Today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60520" cy="1828800"/>
          </a:xfrm>
          <a:prstGeom prst="rect">
            <a:avLst/>
          </a:prstGeom>
          <a:solidFill>
            <a:srgbClr val="17365A"/>
          </a:solidFill>
          <a:ln w="508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73152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24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Sontale  ·  Faculty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 Preparation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1728216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dashboard before CIE. Sees 8 students flagged at-risk due to low streak. Downloads auto-generated CIE report in one click. Saves 4 hours of spreadsheet work.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1737360" cy="201168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Automated Reports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160520" cy="1828800"/>
          </a:xfrm>
          <a:prstGeom prst="rect">
            <a:avLst/>
          </a:prstGeom>
          <a:solidFill>
            <a:srgbClr val="17365A"/>
          </a:solidFill>
          <a:ln w="508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51560"/>
            <a:ext cx="73152" cy="18288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12471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 ·  3rd Year Student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3990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DSA Practice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892040" y="1728216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in, solves 3 problems. System detects he struggles with Recursion → AI recommends 5 targeted recursion problems for next session. Progress tracked automatically.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892040" y="2624328"/>
            <a:ext cx="1737360" cy="201168"/>
          </a:xfrm>
          <a:prstGeom prst="roundRect">
            <a:avLst>
              <a:gd name="adj" fmla="val 18182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62432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AI-Driven Learning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4320" y="3017520"/>
            <a:ext cx="4160520" cy="1828800"/>
          </a:xfrm>
          <a:prstGeom prst="rect">
            <a:avLst/>
          </a:prstGeom>
          <a:solidFill>
            <a:srgbClr val="17365A"/>
          </a:solidFill>
          <a:ln w="508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 ·  Dept. of CS &amp; Engineering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Curriculum Review Meeting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57200" y="3694176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batch-level analytics. Binary Trees are weak across 3 consecutive batches. Raises it in APT-Tech meeting with visual evidence. Curriculum updated with data.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590288"/>
            <a:ext cx="1737360" cy="201168"/>
          </a:xfrm>
          <a:prstGeom prst="roundRect">
            <a:avLst>
              <a:gd name="adj" fmla="val 18182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590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Curriculum Intelligence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3017520"/>
            <a:ext cx="4160520" cy="1828800"/>
          </a:xfrm>
          <a:prstGeom prst="rect">
            <a:avLst/>
          </a:prstGeom>
          <a:solidFill>
            <a:srgbClr val="17365A"/>
          </a:solidFill>
          <a:ln w="508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017520"/>
            <a:ext cx="73152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0906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 ·  7th Semester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36499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Placement Preparation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892040" y="3694176"/>
            <a:ext cx="385876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shows Graphs and DP are her weak areas — exactly what Infosys asks in campus drives. Follows AI-generated roadmap for 3 weeks. Placed successfully.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4590288"/>
            <a:ext cx="1737360" cy="201168"/>
          </a:xfrm>
          <a:prstGeom prst="roundRect">
            <a:avLst>
              <a:gd name="adj" fmla="val 18182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5902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Placement Readiness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TechFootPrint Works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011680" cy="58521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20116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STUDENT / FACULTY / ADMIN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487168" y="1051560"/>
            <a:ext cx="619963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051560"/>
            <a:ext cx="5989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TypeScript Web App  (Port 3000)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98448" y="1636776"/>
            <a:ext cx="9144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819656"/>
            <a:ext cx="2011680" cy="5852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9656"/>
            <a:ext cx="20116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API GATEWAY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87168" y="1819656"/>
            <a:ext cx="619963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059669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33472" y="1819656"/>
            <a:ext cx="5989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·  JWT Authentication  ·  CORS  ·  Rate Limiting   (Port 8000)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98448" y="2404872"/>
            <a:ext cx="9144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87752"/>
            <a:ext cx="2011680" cy="58521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587752"/>
            <a:ext cx="20116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MICROSERVICES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487168" y="2587752"/>
            <a:ext cx="619963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D97706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33472" y="2587752"/>
            <a:ext cx="5989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  ·  User Service  ·  Connector Service  ·  Analytics  ·  Portfolio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98448" y="3172968"/>
            <a:ext cx="9144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355848"/>
            <a:ext cx="2011680" cy="58521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355848"/>
            <a:ext cx="20116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BACKGROUND WORKERS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487168" y="3355848"/>
            <a:ext cx="619963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A78BFA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33472" y="3355848"/>
            <a:ext cx="5989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  +  Celery Beat Scheduler  |  RabbitMQ Message Queue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98448" y="3941064"/>
            <a:ext cx="91440" cy="18288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123944"/>
            <a:ext cx="2011680" cy="58521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23944"/>
            <a:ext cx="2011680" cy="58521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1628"/>
                </a:solidFill>
              </a:rPr>
              <a:t>DATA LAYER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487168" y="4123944"/>
            <a:ext cx="6199632" cy="585216"/>
          </a:xfrm>
          <a:prstGeom prst="rect">
            <a:avLst/>
          </a:prstGeom>
          <a:solidFill>
            <a:srgbClr val="FFFFFF"/>
          </a:solidFill>
          <a:ln w="8890">
            <a:solidFill>
              <a:srgbClr val="10B98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633472" y="4123944"/>
            <a:ext cx="59893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 (Primary)   ·   Redis 7 (Cache)   ·   RabbitMQ (Broker)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732520" y="1051560"/>
            <a:ext cx="365760" cy="868680"/>
          </a:xfrm>
          <a:prstGeom prst="rect">
            <a:avLst/>
          </a:prstGeom>
          <a:solidFill>
            <a:srgbClr val="0F254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5088" y="1078992"/>
            <a:ext cx="4023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Docker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Containerized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732520" y="2011680"/>
            <a:ext cx="365760" cy="868680"/>
          </a:xfrm>
          <a:prstGeom prst="rect">
            <a:avLst/>
          </a:prstGeom>
          <a:solidFill>
            <a:srgbClr val="0F254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05088" y="2039112"/>
            <a:ext cx="4023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Kubernetes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Orchestrated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732520" y="2971800"/>
            <a:ext cx="365760" cy="868680"/>
          </a:xfrm>
          <a:prstGeom prst="rect">
            <a:avLst/>
          </a:prstGeom>
          <a:solidFill>
            <a:srgbClr val="0F2541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05088" y="2999232"/>
            <a:ext cx="402336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Horizontal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Scalable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Platform data flows: Student Activity  →  Connector Service  →  Analytics Engine  →  Faculty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PLATFORM INTEGRATIONS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Coding Platforms — One Unified 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143000"/>
          </a:xfrm>
          <a:prstGeom prst="rect">
            <a:avLst/>
          </a:prstGeom>
          <a:solidFill>
            <a:srgbClr val="17365A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1615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1430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LeetCode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1179576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11795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Live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57200" y="14904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GraphQL API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7099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· Difficulty · Streaks · Contest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051560"/>
            <a:ext cx="2743200" cy="1143000"/>
          </a:xfrm>
          <a:prstGeom prst="rect">
            <a:avLst/>
          </a:prstGeom>
          <a:solidFill>
            <a:srgbClr val="17365A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55848" y="121615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11430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Codeforces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13248" y="1179576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13248" y="11795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Live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55848" y="14904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55848" y="17099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Submissions · Contest 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071616" y="1051560"/>
            <a:ext cx="2743200" cy="1143000"/>
          </a:xfrm>
          <a:prstGeom prst="rect">
            <a:avLst/>
          </a:prstGeom>
          <a:solidFill>
            <a:srgbClr val="17365A"/>
          </a:solidFill>
          <a:ln w="762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54496" y="121615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0528" y="114300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11896" y="1179576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11896" y="1179576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Live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6254496" y="14904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54496" y="1709928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 · Contributions · Public Activity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313432"/>
            <a:ext cx="2743200" cy="1143000"/>
          </a:xfrm>
          <a:prstGeom prst="rect">
            <a:avLst/>
          </a:prstGeom>
          <a:solidFill>
            <a:srgbClr val="17365A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4780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24048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CodeChef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14600" y="2441448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14600" y="2441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Ready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" y="27523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Scraping/API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297180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Solved Problems · Contests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172968" y="2313432"/>
            <a:ext cx="2743200" cy="1143000"/>
          </a:xfrm>
          <a:prstGeom prst="rect">
            <a:avLst/>
          </a:prstGeom>
          <a:solidFill>
            <a:srgbClr val="17365A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55848" y="24780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24048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HackerRank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13248" y="2441448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13248" y="2441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Ready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3355848" y="27523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55848" y="297180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· Domain Scores · Badges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71616" y="2313432"/>
            <a:ext cx="2743200" cy="1143000"/>
          </a:xfrm>
          <a:prstGeom prst="rect">
            <a:avLst/>
          </a:prstGeom>
          <a:solidFill>
            <a:srgbClr val="17365A"/>
          </a:solidFill>
          <a:ln w="762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254496" y="24780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240487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GeeksForGeeks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311896" y="2441448"/>
            <a:ext cx="411480" cy="201168"/>
          </a:xfrm>
          <a:prstGeom prst="roundRect">
            <a:avLst>
              <a:gd name="adj" fmla="val 1818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11896" y="2441448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628"/>
                </a:solidFill>
              </a:rPr>
              <a:t>Ready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254496" y="2752344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 API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54496" y="297180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· Difficulty · Practice Activity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778240" y="1051560"/>
            <a:ext cx="347472" cy="2404872"/>
          </a:xfrm>
          <a:prstGeom prst="rect">
            <a:avLst/>
          </a:prstGeom>
          <a:solidFill>
            <a:srgbClr val="17365A"/>
          </a:solidFill>
          <a:ln w="635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32520" y="1170432"/>
            <a:ext cx="402336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EXTENSIBLE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FRAMEWORK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+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NEW 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</a:rPr>
              <a:t>5 MIN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274320" y="3749040"/>
            <a:ext cx="8595360" cy="1188720"/>
          </a:xfrm>
          <a:prstGeom prst="rect">
            <a:avLst/>
          </a:prstGeom>
          <a:solidFill>
            <a:srgbClr val="17365A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02920" y="382219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your institution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02920" y="4206240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3232" y="4169664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get a unified view of all student coding activity across every platform — no more asking students to self-report.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517136"/>
            <a:ext cx="128016" cy="12801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4480560"/>
            <a:ext cx="8092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can compare students on a level playing field regardless of which platforms they use.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AI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Brain Behind Personalised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023360" cy="391363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40233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Rule-Based.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Self-Trained AI.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221284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17627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3,433 real LeetCode problems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423160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problem content, tags, difficulty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0662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each student's history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49808" y="2953512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transformer tracks skill progression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2369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what to solve next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49808" y="3483864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probability · Helpfulness · Difficulty fit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0390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37673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topic clusters, 99.22% purity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49808" y="4014216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Semantically organised — problems grouped by concept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433425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2976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problems, not just lists them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49808" y="4544568"/>
            <a:ext cx="3383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NDCG@10: 75.48%  ·  MRR: 89.66%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26280" y="1051560"/>
            <a:ext cx="434340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26280" y="1051560"/>
            <a:ext cx="6400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45152" y="1197864"/>
            <a:ext cx="493776" cy="4937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45152" y="119786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216152"/>
            <a:ext cx="347472" cy="34747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23560" y="1143000"/>
            <a:ext cx="3154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Encoder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4681728" y="170992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problem's title, tags and difficulty. Creates a 64-number fingerprint of what the problem is about.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6583680" y="2221992"/>
            <a:ext cx="9144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2350008"/>
            <a:ext cx="434340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526280" y="2350008"/>
            <a:ext cx="6400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645152" y="2496312"/>
            <a:ext cx="493776" cy="4937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645152" y="249631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2514600"/>
            <a:ext cx="347472" cy="34747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623560" y="2441448"/>
            <a:ext cx="3154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Encoder</a:t>
            </a:r>
            <a:endParaRPr lang="en-US" sz="1400" dirty="0"/>
          </a:p>
        </p:txBody>
      </p:sp>
      <p:sp>
        <p:nvSpPr>
          <p:cNvPr id="37" name="Text 33"/>
          <p:cNvSpPr/>
          <p:nvPr/>
        </p:nvSpPr>
        <p:spPr>
          <a:xfrm>
            <a:off x="4681728" y="300837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student's solved-problem history and skill profile. Creates a matching fingerprint of who the student is.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6583680" y="3520440"/>
            <a:ext cx="91440" cy="1280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4526280" y="3648456"/>
            <a:ext cx="4343400" cy="11704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4526280" y="3648456"/>
            <a:ext cx="64008" cy="1170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4645152" y="3794760"/>
            <a:ext cx="493776" cy="4937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4645152" y="37947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0368" y="3813048"/>
            <a:ext cx="347472" cy="34747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5623560" y="3739896"/>
            <a:ext cx="3154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Recommender</a:t>
            </a:r>
            <a:endParaRPr lang="en-US" sz="1400" dirty="0"/>
          </a:p>
        </p:txBody>
      </p:sp>
      <p:sp>
        <p:nvSpPr>
          <p:cNvPr id="45" name="Text 40"/>
          <p:cNvSpPr/>
          <p:nvPr/>
        </p:nvSpPr>
        <p:spPr>
          <a:xfrm>
            <a:off x="4681728" y="430682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fingerprints. Predicts the best next problems and ranks them — instantly, for every student.</a:t>
            </a:r>
            <a:endParaRPr lang="en-US" sz="1050" dirty="0"/>
          </a:p>
        </p:txBody>
      </p:sp>
      <p:sp>
        <p:nvSpPr>
          <p:cNvPr id="46" name="Shape 41"/>
          <p:cNvSpPr/>
          <p:nvPr/>
        </p:nvSpPr>
        <p:spPr>
          <a:xfrm>
            <a:off x="4526280" y="4059936"/>
            <a:ext cx="4343400" cy="8961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2"/>
          <p:cNvSpPr/>
          <p:nvPr/>
        </p:nvSpPr>
        <p:spPr>
          <a:xfrm>
            <a:off x="4663440" y="41148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Student gets their next 5 problems — ranked, relevant, right difficulty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PERFORMANCE METRICS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Measured — What We Achieved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196596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99.22%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Cluster Purity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5760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of 11 topic clusters at 100%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41448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41448" y="1051560"/>
            <a:ext cx="19659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41448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89.66%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532888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MRR Score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32888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problem always near top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08576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08576" y="1051560"/>
            <a:ext cx="196596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75.48%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4700016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NDCG@10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00016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ranking performance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75704" y="1051560"/>
            <a:ext cx="1965960" cy="1536192"/>
          </a:xfrm>
          <a:prstGeom prst="rect">
            <a:avLst/>
          </a:prstGeom>
          <a:solidFill>
            <a:srgbClr val="17365A"/>
          </a:solidFill>
          <a:ln w="7620">
            <a:solidFill>
              <a:srgbClr val="0000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75704" y="1051560"/>
            <a:ext cx="196596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5704" y="1170432"/>
            <a:ext cx="1965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6.10 MB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67144" y="192024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Model Size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67144" y="221284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— deployable on any server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269748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6" name="Chart 1" descr=""/>
          <p:cNvGraphicFramePr/>
          <p:nvPr/>
        </p:nvGraphicFramePr>
        <p:xfrm>
          <a:off x="4663440" y="2697480"/>
          <a:ext cx="420624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1"/>
          </a:solidFill>
          <a:ln w="12700">
            <a:solidFill>
              <a:srgbClr val="0F254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IMPLEMENTATION STATUS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Built &amp; Working Right Now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029200" cy="391363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0292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15568"/>
            <a:ext cx="4663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✓  Implemented &amp; Working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60020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8096" y="158191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Multi-role authentication (Student / Faculty / Admin / Super Admin)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11680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" y="199339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scraping from LeetCode, Codeforces &amp; GitHub (3 platforms fully live)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4231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68096" y="240487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Celery workers — automatic nightly sync with retry &amp; rate-limit handling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283464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8096" y="281635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 — total solved, streaks, topic distribution, 365-day heatmap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246120"/>
            <a:ext cx="237744" cy="23774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68096" y="322783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Self-trained Transformer DSA Recommender (1.6M params, 6.10 MB, CPU-ready)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657600"/>
            <a:ext cx="237744" cy="23774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68096" y="363931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schema with Alembic migrations + Redis caching (1hr TTL)</a:t>
            </a:r>
            <a:endParaRPr lang="en-US" sz="105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4069080"/>
            <a:ext cx="237744" cy="23774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68096" y="405079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shareable portfolio with view tracking</a:t>
            </a:r>
            <a:endParaRPr lang="en-US" sz="10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4480560"/>
            <a:ext cx="237744" cy="237744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68096" y="4462272"/>
            <a:ext cx="4434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(dev) + Kubernetes manifests (production) — fully containerized</a:t>
            </a:r>
            <a:endParaRPr lang="en-US" sz="1050" dirty="0"/>
          </a:p>
        </p:txBody>
      </p:sp>
      <p:sp>
        <p:nvSpPr>
          <p:cNvPr id="24" name="Shape 14"/>
          <p:cNvSpPr/>
          <p:nvPr/>
        </p:nvSpPr>
        <p:spPr>
          <a:xfrm>
            <a:off x="5486400" y="1051560"/>
            <a:ext cx="3383280" cy="248716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228600" dist="50800" dir="8100000">
              <a:srgbClr val="000000">
                <a:alpha val="8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5486400" y="1051560"/>
            <a:ext cx="338328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16"/>
          <p:cNvSpPr/>
          <p:nvPr/>
        </p:nvSpPr>
        <p:spPr>
          <a:xfrm>
            <a:off x="5669280" y="111556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⏳  In Progress</a:t>
            </a:r>
            <a:endParaRPr lang="en-US" sz="13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50992" y="1600200"/>
            <a:ext cx="237744" cy="23774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980176" y="1581912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CodeChef, HackerRank, GFG connectors (framework ready, connectors in progress)</a:t>
            </a:r>
            <a:endParaRPr lang="en-US" sz="10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50992" y="2167128"/>
            <a:ext cx="237744" cy="23774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5980176" y="21488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BI Dashboard with cohort-level analytics and batch comparisons</a:t>
            </a:r>
            <a:endParaRPr lang="en-US" sz="10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50992" y="2734056"/>
            <a:ext cx="237744" cy="23774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5980176" y="2715768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CIE report PDF generation</a:t>
            </a:r>
            <a:endParaRPr lang="en-US" sz="10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50992" y="3300984"/>
            <a:ext cx="237744" cy="23774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5980176" y="3282696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direct messaging via WebSockets</a:t>
            </a:r>
            <a:endParaRPr lang="en-US" sz="1000" dirty="0"/>
          </a:p>
        </p:txBody>
      </p:sp>
      <p:sp>
        <p:nvSpPr>
          <p:cNvPr id="35" name="Shape 21"/>
          <p:cNvSpPr/>
          <p:nvPr/>
        </p:nvSpPr>
        <p:spPr>
          <a:xfrm>
            <a:off x="5486400" y="3657600"/>
            <a:ext cx="3383280" cy="1307592"/>
          </a:xfrm>
          <a:prstGeom prst="rect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22"/>
          <p:cNvSpPr/>
          <p:nvPr/>
        </p:nvSpPr>
        <p:spPr>
          <a:xfrm>
            <a:off x="5650992" y="372160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 at a Glance</a:t>
            </a:r>
            <a:endParaRPr lang="en-US" sz="1100" dirty="0"/>
          </a:p>
        </p:txBody>
      </p:sp>
      <p:sp>
        <p:nvSpPr>
          <p:cNvPr id="37" name="Text 23"/>
          <p:cNvSpPr/>
          <p:nvPr/>
        </p:nvSpPr>
        <p:spPr>
          <a:xfrm>
            <a:off x="5650992" y="40690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FastAPI + React 18 + TypeScript</a:t>
            </a:r>
            <a:endParaRPr lang="en-US" sz="950" dirty="0"/>
          </a:p>
        </p:txBody>
      </p:sp>
      <p:sp>
        <p:nvSpPr>
          <p:cNvPr id="38" name="Text 24"/>
          <p:cNvSpPr/>
          <p:nvPr/>
        </p:nvSpPr>
        <p:spPr>
          <a:xfrm>
            <a:off x="5650992" y="43434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PostgreSQL · Redis · RabbitMQ · Celery</a:t>
            </a:r>
            <a:endParaRPr lang="en-US" sz="950" dirty="0"/>
          </a:p>
        </p:txBody>
      </p:sp>
      <p:sp>
        <p:nvSpPr>
          <p:cNvPr id="39" name="Text 25"/>
          <p:cNvSpPr/>
          <p:nvPr/>
        </p:nvSpPr>
        <p:spPr>
          <a:xfrm>
            <a:off x="5650992" y="46177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Docker · Kubernetes · PyTorch (from scratch)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5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10B981"/>
                </a:solidFill>
              </a:rPr>
              <a:t>ROADMAP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Going — Phase 2 &amp; Beyond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88920" cy="3913632"/>
          </a:xfrm>
          <a:prstGeom prst="rect">
            <a:avLst/>
          </a:prstGeom>
          <a:solidFill>
            <a:srgbClr val="17365A"/>
          </a:solidFill>
          <a:ln w="8890">
            <a:solidFill>
              <a:srgbClr val="05966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889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51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8912" y="1792224"/>
            <a:ext cx="246888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CodeChef, HackerRank, GFG connectors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BI Dashboard — cohort heatmaps, batch comparisons, at-risk alerts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CIE Report Generation (PDF, one-click)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DMs between students and faculty (WebSockets)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 outcome attainment mapping for NAAC/NBA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18688" y="1051560"/>
            <a:ext cx="2788920" cy="3913632"/>
          </a:xfrm>
          <a:prstGeom prst="rect">
            <a:avLst/>
          </a:prstGeom>
          <a:solidFill>
            <a:srgbClr val="17365A"/>
          </a:solidFill>
          <a:ln w="8890">
            <a:solidFill>
              <a:srgbClr val="F59E0B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1051560"/>
            <a:ext cx="2788920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28416" y="1051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Mid-Term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1792224"/>
            <a:ext cx="246888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Readiness Index — company-wise readiness score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correlation analytics for HOD and TPO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students (iOS + Android)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Batch-vs-batch benchmarking dashboard for management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trained on real user data (replacing synthetic dataset)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63056" y="1051560"/>
            <a:ext cx="2788920" cy="3913632"/>
          </a:xfrm>
          <a:prstGeom prst="rect">
            <a:avLst/>
          </a:prstGeom>
          <a:solidFill>
            <a:srgbClr val="17365A"/>
          </a:solidFill>
          <a:ln w="8890">
            <a:solidFill>
              <a:srgbClr val="0EA5E9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1051560"/>
            <a:ext cx="2788920" cy="6583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051560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Long-Term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7648" y="1792224"/>
            <a:ext cx="2468880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Integration (Moodle / Canvas) — sync with existing college systems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Anonymised research dataset for affiliated universities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Multi-college / university-level super-admin dashboard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calibration for AI probability outputs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 integrations for live job-readiness tracking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6400800" cy="6400800"/>
          </a:xfrm>
          <a:prstGeom prst="ellipse">
            <a:avLst/>
          </a:prstGeom>
          <a:solidFill>
            <a:srgbClr val="0F2541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828800"/>
            <a:ext cx="5029200" cy="5029200"/>
          </a:xfrm>
          <a:prstGeom prst="ellipse">
            <a:avLst/>
          </a:prstGeom>
          <a:solidFill>
            <a:srgbClr val="17365A"/>
          </a:solidFill>
          <a:ln w="10160">
            <a:solidFill>
              <a:srgbClr val="1E3F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EE7B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 Welcome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926080" y="2971800"/>
            <a:ext cx="3291840" cy="36576"/>
          </a:xfrm>
          <a:prstGeom prst="rect">
            <a:avLst/>
          </a:prstGeom>
          <a:solidFill>
            <a:srgbClr val="1E3F6B"/>
          </a:solidFill>
          <a:ln w="12700">
            <a:solidFill>
              <a:srgbClr val="1E3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108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Vinay Kamble  ·  Shreeya Dhond  ·  Shrejal Bhosale  ·  Aisshwarya Gurav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Dept. of Computer Science &amp; Engineering (AI &amp; ML)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Roles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004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Student · Faculty · Admin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1460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1460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Platforms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51460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Unified Tracking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99.22%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70916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 Cluster Purity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4005072"/>
            <a:ext cx="2084832" cy="841248"/>
          </a:xfrm>
          <a:prstGeom prst="rect">
            <a:avLst/>
          </a:prstGeom>
          <a:solidFill>
            <a:srgbClr val="17365A"/>
          </a:solidFill>
          <a:ln w="6350">
            <a:solidFill>
              <a:srgbClr val="1E3F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0" y="4005072"/>
            <a:ext cx="2084832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4059936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903720" y="448056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Fully Implemented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2026-04-29T17:31:08Z</dcterms:created>
  <dcterms:modified xsi:type="dcterms:W3CDTF">2026-04-29T17:31:08Z</dcterms:modified>
</cp:coreProperties>
</file>